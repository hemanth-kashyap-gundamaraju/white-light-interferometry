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533d5820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533d5820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533d58200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533d58200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533d58200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533d58200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3c33d04d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3c33d04d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533d58200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533d58200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9dd20d1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9dd20d1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dd20d1c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9dd20d1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3cad2882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3cad2882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3cad2882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3cad288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3cad2882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3cad2882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3cad2882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3cad2882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3cad2882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3cad2882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3c33d04d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3c33d04d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3cad2882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3cad288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P096: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White Light Interferometry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644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Abhishek Iyer (112401002)</a:t>
            </a:r>
            <a:endParaRPr sz="14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Hemanth Kashyap Gundamaraju (112301009)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To simulate White Light Interferometer by using randomly generated CSV file</a:t>
            </a:r>
            <a:r>
              <a:rPr lang="en-GB"/>
              <a:t> </a:t>
            </a:r>
            <a:r>
              <a:rPr lang="en-GB"/>
              <a:t>of heights and generating interferograms that might form using the resulting heightmap.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To create a functioning White Light Interferometer and use AI and Deep Learning algorithms to </a:t>
            </a:r>
            <a:r>
              <a:rPr lang="en-GB"/>
              <a:t>convert</a:t>
            </a:r>
            <a:r>
              <a:rPr lang="en-GB"/>
              <a:t> the interference waveform obtained from the interferometer to a 3-D Surface Height Map of the sample surface.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469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Timeline / Steps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Create  a program to generate arbitrary height maps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Create a program to convert those height maps into corresponding interference pattern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Using 1 and 2, create a large dataset for </a:t>
            </a:r>
            <a:r>
              <a:rPr lang="en-GB"/>
              <a:t>training</a:t>
            </a:r>
            <a:r>
              <a:rPr lang="en-GB"/>
              <a:t> the AI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Optimize and fine tune the model until it can generate the corresponding height map when fed </a:t>
            </a:r>
            <a:r>
              <a:rPr lang="en-GB"/>
              <a:t>input of an interference waveform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Create a prototype White Light Interferometer to generate interference waveforms for a given sample surface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Further refine the Model to account for any imperfections such as dust/camera aberrations etc. in real world usage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Using the AI Model, find out the height variations and surface topography of the sample surface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Principle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White light has a short coherence length, allowing it to generate clear, localized fringes only over a small depth of focus.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We use a pinhole along with a lens to make the white light spatially coherent.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The variations in path length caused by the surface topography of the sample surface cause interference between the reflected and </a:t>
            </a:r>
            <a:r>
              <a:rPr lang="en-GB"/>
              <a:t>reference</a:t>
            </a:r>
            <a:r>
              <a:rPr lang="en-GB"/>
              <a:t> beams of light, giving rise to </a:t>
            </a:r>
            <a:r>
              <a:rPr lang="en-GB"/>
              <a:t>interference</a:t>
            </a:r>
            <a:r>
              <a:rPr lang="en-GB"/>
              <a:t> patterns.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6"/>
          <p:cNvGrpSpPr/>
          <p:nvPr/>
        </p:nvGrpSpPr>
        <p:grpSpPr>
          <a:xfrm>
            <a:off x="3737100" y="2880950"/>
            <a:ext cx="4054223" cy="2000076"/>
            <a:chOff x="1642850" y="3065175"/>
            <a:chExt cx="4054223" cy="2000076"/>
          </a:xfrm>
        </p:grpSpPr>
        <p:pic>
          <p:nvPicPr>
            <p:cNvPr id="155" name="Google Shape;155;p16" title="White Light Interferometer Diagra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42850" y="3065175"/>
              <a:ext cx="4054223" cy="2000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16"/>
            <p:cNvSpPr txBox="1"/>
            <p:nvPr/>
          </p:nvSpPr>
          <p:spPr>
            <a:xfrm>
              <a:off x="4037700" y="4681963"/>
              <a:ext cx="1143900" cy="338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Mirau Objective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401427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Underlying Physics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Height variations in the sample surface lead to an interfe</a:t>
            </a:r>
            <a:r>
              <a:rPr lang="en-GB"/>
              <a:t>rence pattern being generated due to phase differences arising from path difference of the reflected and reference light beams.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The sample surface is scanned across, generating many fringes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At each point, the position of maximum fringe contrast (coherence peak) is recorded. This indicates the point where the two beams have equal optical path length.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The vertical position of this coherence peak gives us the height of the sample at that point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Equipment / Materials Needed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Mirau / Michelson Objective Lens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Beam Splitter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Broad Band Emitter (White LED)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Achromatic Lens (to focus the camera onto </a:t>
            </a:r>
            <a:r>
              <a:rPr lang="en-GB"/>
              <a:t>the sample</a:t>
            </a:r>
            <a:r>
              <a:rPr lang="en-GB"/>
              <a:t>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Optical Rails + Mounts (Very precise)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CMOS Camera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Piezo Activator (To scan along the sample)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 Heightmap generation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1297500" y="12522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Tested various noise generators:</a:t>
            </a:r>
            <a:endParaRPr sz="1400"/>
          </a:p>
          <a:p>
            <a:pPr indent="-31750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Worley Noise: Too regular</a:t>
            </a:r>
            <a:endParaRPr sz="1400"/>
          </a:p>
          <a:p>
            <a:pPr indent="-31750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Perlin Noise: Worked well</a:t>
            </a:r>
            <a:endParaRPr sz="1400"/>
          </a:p>
          <a:p>
            <a:pPr indent="-31750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Simplex FBM Noise: Improved on efficiency and randomness over Perlin</a:t>
            </a:r>
            <a:endParaRPr sz="1400"/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Created a Python program to generate random, arbitrary height maps using Simplex Noise Fractal Brownian Motion (Simplex FBM)</a:t>
            </a:r>
            <a:endParaRPr sz="1400"/>
          </a:p>
        </p:txBody>
      </p:sp>
      <p:pic>
        <p:nvPicPr>
          <p:cNvPr id="175" name="Google Shape;175;p19" title="Figure_1.png"/>
          <p:cNvPicPr preferRelativeResize="0"/>
          <p:nvPr/>
        </p:nvPicPr>
        <p:blipFill rotWithShape="1">
          <a:blip r:embed="rId3">
            <a:alphaModFix/>
          </a:blip>
          <a:srcRect b="12718" l="13476" r="6734" t="10150"/>
          <a:stretch/>
        </p:blipFill>
        <p:spPr>
          <a:xfrm>
            <a:off x="1650524" y="2867575"/>
            <a:ext cx="3861450" cy="196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427525" y="3178200"/>
            <a:ext cx="3753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299" lvl="0" marL="280799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left image is the heightmap visualized in 3D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299" lvl="0" marL="280799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right image is the 2D projection of the heightmap with colours </a:t>
            </a: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representing depth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2: Creating a WLI Simulator</a:t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1297500" y="15352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Imported the heightmap from CSV.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Scaled the data into nanometres for optical relevance.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Defined simulation parameters: wavelength (   ) 600 nm, coherence length (    ) 100 nm, and mirror scan range (s) -300 to 300 nm.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Computed the optical path difference (OPD) using:  OPD=2(z−s)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Generated intensity values using cosine interference with a Gaussian coherence envelope.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0" title="{&quot;red&quot;:255,&quot;green&quot;:255,&quot;blue&quot;:255,&quot;origURL&quot;:&quot;https://www.codecogs.com/eqnedit.php?latex=%5Clambda#0&quot;,&quot;size&quot;:14,&quot;width&quot;:554.2440944881889,&quot;height&quot;:229.22834645669292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375" y="2126775"/>
            <a:ext cx="128125" cy="1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title="{&quot;red&quot;:255,&quot;green&quot;:255,&quot;blue&quot;:255,&quot;origURL&quot;:&quot;https://www.codecogs.com/eqnedit.php?latex=L_c#0&quot;,&quot;size&quot;:14,&quot;width&quot;:554.2440944881889,&quot;height&quot;:229.22834645669292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1500" y="2126775"/>
            <a:ext cx="206692" cy="1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title="{&quot;red&quot;:255,&quot;green&quot;:255,&quot;blue&quot;:255,&quot;origURL&quot;:&quot;https://www.codecogs.com/eqnedit.php?latex=%20I%20%3D%201%20%2B%20e%5E%7B-%20%5Cfrac%7BOPD%5E2%7D%7B2L_c%5E2%7D%7D%20cos(%5Cfrac%7B2%5Cpi%7D%7B%5Clambda%7D%20*%20OPD)%20#0&quot;,&quot;size&quot;:14,&quot;width&quot;:554.2440944881889,&quot;height&quot;:229.22834645669292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2538" y="3562275"/>
            <a:ext cx="4938926" cy="80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1297500" y="393750"/>
            <a:ext cx="77757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Input Surface Data &amp; Heightmap Visualization</a:t>
            </a:r>
            <a:endParaRPr/>
          </a:p>
        </p:txBody>
      </p:sp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264500" y="1610575"/>
            <a:ext cx="5995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plotted a 2D heightmap loaded from heightmap.csv to verify the imported data is correct before simulation.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takeaways: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Colour corresponds to height variation.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Surface features influence the phase and fringe structure in later steps.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Ensures the dataset is correctly structured and scaled.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1025" y="1909625"/>
            <a:ext cx="2812975" cy="231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Simulated Interferogram at Fixed Reference 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361350" y="1610625"/>
            <a:ext cx="6153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Plot shown: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frame of the simulated interferogram: I[:, :, mid_index]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Shows how interference appears for one mirror position in the scan.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Areas with varying height show local changes in fringe spacing.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Visible fringes correspond to areas where the OPD is close to a multiple of the wavelength.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Fringe contrast is highest near the coherence peak.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 of fringes reflects underlying surface gradients.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900" y="1926538"/>
            <a:ext cx="2682375" cy="22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Pixel‑Level Behaviour</a:t>
            </a:r>
            <a:endParaRPr/>
          </a:p>
        </p:txBody>
      </p:sp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630350" y="1567550"/>
            <a:ext cx="4633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Produces a sinusoidal signal modulated by a Gaussian‑like envelope.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location of maximum envelope intensity corresponds to the surface height at that pixel.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Used later for height reconstruction.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141" y="1405000"/>
            <a:ext cx="3830359" cy="307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Global Trends </a:t>
            </a:r>
            <a:endParaRPr/>
          </a:p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766150" y="1567550"/>
            <a:ext cx="3805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 intensity vs scan position confirms expected coherence peak behaviour.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Frames across the scan show fringes appearing, strengthening, then fading.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simulation output aligns with expected white‑light interferometry response.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50" y="1460250"/>
            <a:ext cx="4055116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Issues Faced: Fringe Pattern was not shown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1275979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The initial simulation without tilt produced output, but no visible spatial fringe pattern was present.</a:t>
            </a:r>
            <a:endParaRPr sz="1400">
              <a:solidFill>
                <a:srgbClr val="FFFFFF"/>
              </a:solidFill>
              <a:highlight>
                <a:srgbClr val="21212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To generate observable interference fringes, a linear phase tilt was added to the reference beam.</a:t>
            </a:r>
            <a:endParaRPr sz="1400">
              <a:solidFill>
                <a:srgbClr val="FFFFFF"/>
              </a:solidFill>
              <a:highlight>
                <a:srgbClr val="21212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After applying tilt, the interferogram displayed clear, structured fringes, making the behaviour easier to interpret and validate.</a:t>
            </a:r>
            <a:endParaRPr sz="1400">
              <a:solidFill>
                <a:srgbClr val="FFFFFF"/>
              </a:solidFill>
              <a:highlight>
                <a:srgbClr val="21212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Tilt helped confirm that the simulation was working correctly, and that interference was occurring as expected.</a:t>
            </a:r>
            <a:endParaRPr sz="1400">
              <a:solidFill>
                <a:srgbClr val="FFFFFF"/>
              </a:solidFill>
              <a:highlight>
                <a:srgbClr val="21212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FFFFFF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The final simulation includes tilt, and it remained part of the model because it improved fringe visibility and interpretability.</a:t>
            </a:r>
            <a:endParaRPr sz="1400">
              <a:solidFill>
                <a:srgbClr val="FFFFFF"/>
              </a:solidFill>
              <a:highlight>
                <a:srgbClr val="21212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1243700" y="3722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Interferogram Without Tilt vs With Tilt</a:t>
            </a:r>
            <a:endParaRPr/>
          </a:p>
        </p:txBody>
      </p:sp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1462438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Without Tilt:</a:t>
            </a:r>
            <a:endParaRPr/>
          </a:p>
        </p:txBody>
      </p:sp>
      <p:sp>
        <p:nvSpPr>
          <p:cNvPr id="226" name="Google Shape;226;p26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With Tilt:</a:t>
            </a:r>
            <a:endParaRPr/>
          </a:p>
        </p:txBody>
      </p:sp>
      <p:pic>
        <p:nvPicPr>
          <p:cNvPr id="227" name="Google Shape;227;p26"/>
          <p:cNvPicPr preferRelativeResize="0"/>
          <p:nvPr/>
        </p:nvPicPr>
        <p:blipFill rotWithShape="1">
          <a:blip r:embed="rId3">
            <a:alphaModFix/>
          </a:blip>
          <a:srcRect b="-2240" l="0" r="0" t="2240"/>
          <a:stretch/>
        </p:blipFill>
        <p:spPr>
          <a:xfrm>
            <a:off x="4933225" y="1960923"/>
            <a:ext cx="3188900" cy="27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 rotWithShape="1">
          <a:blip r:embed="rId4">
            <a:alphaModFix/>
          </a:blip>
          <a:srcRect b="33117" l="35774" r="35777" t="33117"/>
          <a:stretch/>
        </p:blipFill>
        <p:spPr>
          <a:xfrm>
            <a:off x="1723825" y="2102662"/>
            <a:ext cx="2385426" cy="24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ctrTitle"/>
          </p:nvPr>
        </p:nvSpPr>
        <p:spPr>
          <a:xfrm>
            <a:off x="3537150" y="1586077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